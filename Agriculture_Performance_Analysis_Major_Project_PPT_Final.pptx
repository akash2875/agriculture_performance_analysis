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7085" autoAdjust="0"/>
    <p:restoredTop sz="95033" autoAdjust="0"/>
  </p:normalViewPr>
  <p:slideViewPr>
    <p:cSldViewPr snapToGrid="0">
      <p:cViewPr varScale="1">
        <p:scale>
          <a:sx n="96" d="100"/>
          <a:sy n="96" d="100"/>
        </p:scale>
        <p:origin x="-82" y="-178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pPr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951" y="3536206"/>
            <a:ext cx="9295595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0" dirty="0" smtClean="0"/>
              <a:t>Name:</a:t>
            </a:r>
            <a:r>
              <a:rPr sz="1800" b="0" smtClean="0"/>
              <a:t>Akash </a:t>
            </a:r>
            <a:r>
              <a:rPr sz="1800" b="0"/>
              <a:t>B</a:t>
            </a:r>
            <a:r>
              <a:t/>
            </a:r>
            <a:br/>
            <a:r>
              <a:rPr sz="1800" b="0"/>
              <a:t>College </a:t>
            </a:r>
            <a:r>
              <a:rPr sz="1800" b="0" smtClean="0"/>
              <a:t>Name</a:t>
            </a:r>
            <a:r>
              <a:rPr lang="en-US" sz="1800" b="0" dirty="0" smtClean="0"/>
              <a:t>:</a:t>
            </a:r>
            <a:r>
              <a:rPr lang="en-US" b="0" dirty="0" err="1" smtClean="0"/>
              <a:t>Rao</a:t>
            </a:r>
            <a:r>
              <a:rPr lang="en-US" b="0" dirty="0" smtClean="0"/>
              <a:t> </a:t>
            </a:r>
            <a:r>
              <a:rPr lang="en-US" b="0" dirty="0" err="1" smtClean="0"/>
              <a:t>Bahadur</a:t>
            </a:r>
            <a:r>
              <a:rPr lang="en-US" b="0" dirty="0" smtClean="0"/>
              <a:t> Y. </a:t>
            </a:r>
            <a:r>
              <a:rPr lang="en-US" b="0" dirty="0" err="1" smtClean="0"/>
              <a:t>Mahabaleswarappa</a:t>
            </a:r>
            <a:r>
              <a:rPr lang="en-US" b="0" dirty="0" smtClean="0"/>
              <a:t> Engineering College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 fontScale="90000"/>
          </a:bodyPr>
          <a:lstStyle/>
          <a:p>
            <a:r>
              <a:rPr sz="2200" b="1"/>
              <a:t>Project Title -</a:t>
            </a:r>
            <a:r>
              <a:t/>
            </a:r>
            <a:br/>
            <a:r>
              <a:rPr sz="2200" b="1"/>
              <a:t>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7F04107-8754-E47D-3375-529E689711FA}"/>
              </a:ext>
            </a:extLst>
          </p:cNvPr>
          <p:cNvSpPr txBox="1"/>
          <p:nvPr/>
        </p:nvSpPr>
        <p:spPr>
          <a:xfrm>
            <a:off x="861990" y="4218660"/>
            <a:ext cx="5220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0"/>
              <a:t>AICTE STU ID : </a:t>
            </a:r>
            <a:r>
              <a:rPr lang="en-US" sz="1400" dirty="0" smtClean="0"/>
              <a:t>STU6a3fb009a37911782558729</a:t>
            </a:r>
            <a:endParaRPr sz="1400" b="0"/>
          </a:p>
        </p:txBody>
      </p:sp>
    </p:spTree>
    <p:extLst>
      <p:ext uri="{BB962C8B-B14F-4D97-AF65-F5344CB8AC3E}">
        <p14:creationId xmlns:p14="http://schemas.microsoft.com/office/powerpoint/2010/main" xmlns="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sz="1500" b="0"/>
              <a:t>Agriculture performance depends on crop selection, climate, soil conditions, irrigation, input usage and market economics. Farmers and decision-makers need a simple way to compare these factors and identify practices associated with better yield, profitability and water efficiency.</a:t>
            </a:r>
            <a:r>
              <a:t/>
            </a:r>
            <a:br/>
            <a:r>
              <a:t/>
            </a:r>
            <a:br/>
            <a:r>
              <a:rPr sz="1500" b="0"/>
              <a:t>This project analyzes 4,000 farm records to uncover patterns in yield, production, profit, irrigation performance and disease/pest risk.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/>
          </a:bodyPr>
          <a:lstStyle/>
          <a:p>
            <a:r>
              <a:rPr sz="2400" b="1"/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sz="1500" b="0"/>
              <a:t>Agriculture Performance Analysis is a data-driven study of farm-level records containing crop, season, location, weather, soil, input, irrigation, yield, revenue, cost, profit, water use and disease/pest risk.</a:t>
            </a:r>
            <a:r>
              <a:t/>
            </a:r>
            <a:br/>
            <a:r>
              <a:t/>
            </a:r>
            <a:br/>
            <a:r>
              <a:rPr sz="1500" b="0"/>
              <a:t>The workflow includes data loading, cleaning, descriptive statistics, grouping by crop/season/state/irrigation method, correlation analysis and visualization. The objective is to convert raw agricultural data into clear insights that can support better farm planning.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1600" b="0"/>
              <a:t>• Farmers – compare crop and irrigation performance.</a:t>
            </a:r>
            <a:r>
              <a:t/>
            </a:r>
            <a:br/>
            <a:r>
              <a:rPr sz="1600" b="0"/>
              <a:t>• Agricultural officers – monitor regional patterns and risks.</a:t>
            </a:r>
            <a:r>
              <a:t/>
            </a:r>
            <a:br/>
            <a:r>
              <a:rPr sz="1600" b="0"/>
              <a:t>• Agribusiness planners – evaluate production and profitability.</a:t>
            </a:r>
            <a:r>
              <a:t/>
            </a:r>
            <a:br/>
            <a:r>
              <a:rPr sz="1600" b="0"/>
              <a:t>• Researchers/analysts – study relationships between inputs, yield and water use.</a:t>
            </a:r>
            <a:r>
              <a:t/>
            </a:r>
            <a:br/>
            <a:r>
              <a:rPr sz="1600" b="0"/>
              <a:t>• Students – learn practical data visualization using an agricultural dataset.</a:t>
            </a: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sz="1800" b="0"/>
              <a:t>Programming: Python</a:t>
            </a:r>
            <a:r>
              <a:t/>
            </a:r>
            <a:br/>
            <a:r>
              <a:rPr sz="1800" b="0"/>
              <a:t>Data handling: Pandas, NumPy</a:t>
            </a:r>
            <a:r>
              <a:t/>
            </a:r>
            <a:br/>
            <a:r>
              <a:rPr sz="1800" b="0"/>
              <a:t>Visualization: Matplotlib</a:t>
            </a:r>
            <a:r>
              <a:t/>
            </a:r>
            <a:br/>
            <a:r>
              <a:rPr sz="1800" b="0"/>
              <a:t>Environment: Jupyter Notebook / VS Code</a:t>
            </a:r>
            <a:r>
              <a:t/>
            </a:r>
            <a:br/>
            <a:r>
              <a:rPr sz="1800" b="0"/>
              <a:t>Data source: Agriculture farm CSV dataset</a:t>
            </a:r>
            <a:r>
              <a:t/>
            </a:r>
            <a:br/>
            <a:r>
              <a:rPr sz="1800" b="0"/>
              <a:t>Methods: Descriptive statistics, group-by analysis, correlation and visualization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sz="2400" b="1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xmlns="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400" b="1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Crop Performance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Average yield: 5.27 t/ha</a:t>
            </a:r>
            <a:r>
              <a:t/>
            </a:r>
            <a:br/>
            <a:r>
              <a:rPr sz="1400" b="1"/>
              <a:t>Highest average: Sugarcane (46.94 t/ha)</a:t>
            </a:r>
            <a:endParaRPr lang="en-GB" sz="2000" dirty="0"/>
          </a:p>
        </p:txBody>
      </p:sp>
      <p:pic>
        <p:nvPicPr>
          <p:cNvPr id="31" name="Picture 30" descr="crop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583680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20574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/>
              <a:t>Key finding:
Sugarcane has a much higher average yield in this dataset than the other crops. Crop-level comparisons should therefore consider both yield and economic outcomes.</a:t>
            </a:r>
          </a:p>
        </p:txBody>
      </p:sp>
    </p:spTree>
    <p:extLst>
      <p:ext uri="{BB962C8B-B14F-4D97-AF65-F5344CB8AC3E}">
        <p14:creationId xmlns:p14="http://schemas.microsoft.com/office/powerpoint/2010/main" xmlns="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400" b="1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Irrigation Performance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Drip yield: 6.62 t/ha</a:t>
            </a:r>
            <a:r>
              <a:t/>
            </a:r>
            <a:br/>
            <a:r>
              <a:rPr sz="1400" b="1"/>
              <a:t>Drip profit: ₹219,626</a:t>
            </a:r>
            <a:endParaRPr lang="en-GB" sz="2000" dirty="0"/>
          </a:p>
        </p:txBody>
      </p:sp>
      <p:pic>
        <p:nvPicPr>
          <p:cNvPr id="31" name="Picture 30" descr="irrigati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583680" cy="39502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20574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/>
              <a:t>Key finding:
Drip irrigation shows the highest average yield among the four irrigation methods in the dataset. It also has the highest average profit.</a:t>
            </a:r>
          </a:p>
        </p:txBody>
      </p:sp>
    </p:spTree>
    <p:extLst>
      <p:ext uri="{BB962C8B-B14F-4D97-AF65-F5344CB8AC3E}">
        <p14:creationId xmlns:p14="http://schemas.microsoft.com/office/powerpoint/2010/main" xmlns="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400" b="1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Seasonal Profitability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Kharif: ₹178,915</a:t>
            </a:r>
            <a:r>
              <a:t/>
            </a:r>
            <a:br/>
            <a:r>
              <a:rPr sz="1400" b="1"/>
              <a:t>Rabi: ₹87,689</a:t>
            </a:r>
            <a:r>
              <a:t/>
            </a:r>
            <a:br/>
            <a:r>
              <a:rPr sz="1400" b="1"/>
              <a:t>Zaid: ₹-24,805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season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583680" cy="39502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20574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/>
              <a:t>Key finding:
Kharif has the strongest average profit, while Zaid has a negative average profit in this dataset.</a:t>
            </a:r>
          </a:p>
        </p:txBody>
      </p:sp>
    </p:spTree>
    <p:extLst>
      <p:ext uri="{BB962C8B-B14F-4D97-AF65-F5344CB8AC3E}">
        <p14:creationId xmlns:p14="http://schemas.microsoft.com/office/powerpoint/2010/main" xmlns="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400" b="1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State-wise Performance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Top average profit: Punjab ₹136,026</a:t>
            </a:r>
            <a:r>
              <a:t/>
            </a:r>
            <a:br/>
            <a:r>
              <a:rPr sz="1400" b="1"/>
              <a:t>Overall average profit: ₹111,556</a:t>
            </a:r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1" name="Picture 30" descr="state_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583680" cy="3703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20574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/>
              <a:t>Key finding:
Punjab records the highest average profit among the states represented. Andhra Pradesh has the lowest average profit.</a:t>
            </a:r>
          </a:p>
        </p:txBody>
      </p:sp>
    </p:spTree>
    <p:extLst>
      <p:ext uri="{BB962C8B-B14F-4D97-AF65-F5344CB8AC3E}">
        <p14:creationId xmlns:p14="http://schemas.microsoft.com/office/powerpoint/2010/main" xmlns="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sz="2400" b="1"/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1"/>
              <a:t>Water Efficiency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Average efficiency: 5.39 t/1000m³</a:t>
            </a:r>
            <a:r>
              <a:t/>
            </a:r>
            <a:br/>
            <a:r>
              <a:rPr sz="1400" b="1"/>
              <a:t>Yield–efficiency correlation: 0.92</a:t>
            </a:r>
            <a:endParaRPr lang="en-GB" sz="2000" dirty="0"/>
          </a:p>
        </p:txBody>
      </p:sp>
      <p:pic>
        <p:nvPicPr>
          <p:cNvPr id="31" name="Picture 30" descr="yield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583680" cy="421355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52360" y="20574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/>
              <a:t>Key finding:
Yield and water-efficiency move strongly together in the dataset. This indicates that water productivity is an important performance indicator to monitor.</a:t>
            </a:r>
          </a:p>
        </p:txBody>
      </p:sp>
    </p:spTree>
    <p:extLst>
      <p:ext uri="{BB962C8B-B14F-4D97-AF65-F5344CB8AC3E}">
        <p14:creationId xmlns:p14="http://schemas.microsoft.com/office/powerpoint/2010/main" xmlns="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sz="2400" b="1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511814" y="1299225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/>
              <a:t>1. Predictive yield forecasting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521115" y="1601374"/>
            <a:ext cx="4949381" cy="666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/>
              <a:t>2. Crop recommendation &amp; risk alerts</a:t>
            </a:r>
            <a:r>
              <a:rPr b="1"/>
              <a:t/>
            </a:r>
            <a:br>
              <a:rPr b="1"/>
            </a:br>
            <a:r>
              <a:rPr b="1"/>
              <a:t>3. Weather and soil-based decision support</a:t>
            </a:r>
            <a:r>
              <a:rPr b="1"/>
              <a:t/>
            </a:r>
            <a:br>
              <a:rPr b="1"/>
            </a:br>
            <a:r>
              <a:rPr b="1"/>
              <a:t>4. Interactive Power BI / Streamlit dashboard</a:t>
            </a:r>
            <a:r>
              <a:rPr b="1"/>
              <a:t/>
            </a:r>
            <a:br>
              <a:rPr b="1"/>
            </a:br>
            <a:r>
              <a:rPr b="1"/>
              <a:t>5. Time-series analysis with historical farm data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xmlns="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sz="2400" b="1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10127032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/>
              <a:t>Project </a:t>
            </a:r>
            <a:r>
              <a:rPr sz="1600" b="1" smtClean="0"/>
              <a:t>repository link:</a:t>
            </a:r>
            <a:r>
              <a:rPr b="1"/>
              <a:t> https://github.com/Akash2875/Agriculture_Performance_Analysis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xmlns="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/>
          </a:bodyPr>
          <a:lstStyle/>
          <a:p>
            <a:r>
              <a:rPr sz="2000" b="1"/>
              <a:t>VOIS Course completion certificate -</a:t>
            </a:r>
            <a:r>
              <a:t/>
            </a:r>
            <a:br/>
            <a:r>
              <a:rPr sz="2000" b="1"/>
              <a:t>Course name - Data Visualization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/>
              <a:t>Certificate</a:t>
            </a:r>
            <a:endParaRPr lang="en-GB" sz="2000" dirty="0"/>
          </a:p>
        </p:txBody>
      </p:sp>
      <p:pic>
        <p:nvPicPr>
          <p:cNvPr id="6" name="Picture 5" descr="Screenshot_5-9-2026_105047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674" y="1771124"/>
            <a:ext cx="8062623" cy="490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53" y="2635526"/>
            <a:ext cx="11340000" cy="70011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sz="3200" b="1"/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565</TotalTime>
  <Words>205</Words>
  <Application>Microsoft Office PowerPoint</Application>
  <PresentationFormat>Custom</PresentationFormat>
  <Paragraphs>40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 Agriculture Performance Analysis</vt:lpstr>
      <vt:lpstr>PROBLEM STATEMENT</vt:lpstr>
      <vt:lpstr>Agriculture Performance Analysis is a data-driven study of farm-level records containing crop, season, location, weather, soil, input, irrigation, yield, revenue, cost, profit, water use and disease/pest risk.  The workflow includes data loading, cleaning, descriptive statistics, grouping by crop/season/state/irrigation method, correlation analysis and visualization. The objective is to convert raw agricultural data into clear insights that can support better farm planning.</vt:lpstr>
      <vt:lpstr>WHO ARE THE END USERS?</vt:lpstr>
      <vt:lpstr>Technology Used</vt:lpstr>
      <vt:lpstr>RESULTS</vt:lpstr>
      <vt:lpstr>RESULTS</vt:lpstr>
      <vt:lpstr>RESULTS</vt:lpstr>
      <vt:lpstr>RESULTS</vt:lpstr>
      <vt:lpstr>RESULTS</vt:lpstr>
      <vt:lpstr>Future scope</vt:lpstr>
      <vt:lpstr>GitHub Link</vt:lpstr>
      <vt:lpstr>VOIS Course completion certificate - Course name - Data Visualization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akash b</cp:lastModifiedBy>
  <cp:revision>98</cp:revision>
  <dcterms:created xsi:type="dcterms:W3CDTF">2021-07-11T13:13:15Z</dcterms:created>
  <dcterms:modified xsi:type="dcterms:W3CDTF">2026-09-05T05:27:01Z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